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7" r:id="rId4"/>
    <p:sldId id="259" r:id="rId5"/>
    <p:sldId id="261" r:id="rId6"/>
    <p:sldId id="258" r:id="rId7"/>
    <p:sldId id="262" r:id="rId8"/>
    <p:sldId id="264" r:id="rId9"/>
    <p:sldId id="263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99" autoAdjust="0"/>
    <p:restoredTop sz="94660"/>
  </p:normalViewPr>
  <p:slideViewPr>
    <p:cSldViewPr snapToGrid="0">
      <p:cViewPr varScale="1">
        <p:scale>
          <a:sx n="96" d="100"/>
          <a:sy n="96" d="100"/>
        </p:scale>
        <p:origin x="114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1AB884-E591-F5BE-7CB1-0D57EF9244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4BC4D7C-8941-9237-2F00-2F01E1ECA2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5B61695-2321-2DE0-632C-E91E135762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420AF-129A-49E3-8BB9-6EB6F78C940C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18AAE11-0F89-F4DF-9FB2-E16622907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DCB6224-B975-B344-8417-5139C5892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69DBC-C008-494A-BF55-A5128DC573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58864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6C000D-AD29-B288-0ECD-A9482DE9E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4DBA637-D9D8-29A4-DD9A-81B6D076A8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4B7AD60-233F-381F-E3CA-C0C7ABC17E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420AF-129A-49E3-8BB9-6EB6F78C940C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5374B0-3A5E-D745-2A08-3FA71A877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58AFC3A-7ED3-E154-0334-25362467A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69DBC-C008-494A-BF55-A5128DC573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20960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B89C3C-6293-C15F-4D38-3A5B60C339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F5F1573-AF89-FB3A-1B30-995D8E0E24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FD60E4B-08B8-CDD3-2DF1-A0E83EB8C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420AF-129A-49E3-8BB9-6EB6F78C940C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D4F1A6-6FB2-6F1A-C7AA-A9F5C8DDD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9433517-8E41-9FF1-405B-6C04ADE47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69DBC-C008-494A-BF55-A5128DC573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81288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ED1B75-D9A0-841F-7ED4-8B9A52553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78B7314-01A9-18E1-AB9B-01B65E0BB2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E23AF7E-837E-2122-A03C-5B823C6946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C2BD661-B6F4-8B6C-21C4-4A219C522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420AF-129A-49E3-8BB9-6EB6F78C940C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994F714-5677-2F9E-76A7-539C4DDBE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9997C97-4BFA-11D8-D459-6399C61BC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69DBC-C008-494A-BF55-A5128DC573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89280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5F5A07-C791-5F8B-38E0-3BC746E7F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15EAF60-67B8-CF77-AAAE-5A2CBF8208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A7F8A06-6587-81D9-C950-1FE523F53C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546ACB7-4D32-5A34-B73C-A2406E5CF4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19E823C-DC12-A984-EBEC-690F088FC9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4F23D1B-C915-674C-D369-89344BFFC7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420AF-129A-49E3-8BB9-6EB6F78C940C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CF31CB5-1032-CF34-5281-869856554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C3F30C3-FC90-18EA-4EBC-3573771EF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69DBC-C008-494A-BF55-A5128DC573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7604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6AEB92-A1A2-9583-C87D-43D2FA46B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A48F2FC-8633-F6C4-ECF2-80B53249A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420AF-129A-49E3-8BB9-6EB6F78C940C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EF077F0-52C9-05F3-C809-CC716204B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5C9E7B3-E6E3-186A-FE15-32ED148C9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69DBC-C008-494A-BF55-A5128DC573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78841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6B2FFCF-0EF8-6815-0B47-F48A9F0676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420AF-129A-49E3-8BB9-6EB6F78C940C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58A88A7-C575-FD6A-BE56-D2F131282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A570364-436C-A784-D0B4-1E4417EC2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69DBC-C008-494A-BF55-A5128DC573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19820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2794BB-61C3-130F-DCB1-A41F1A6B3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C711482-8758-DC88-55C0-20227DD78E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104B4BB-2F2A-E2A2-8180-7F656212A7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43C078A-7C9F-9216-57DE-8E06D11A8C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420AF-129A-49E3-8BB9-6EB6F78C940C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11EDBE3-8130-5192-86F4-E99D8C5EFB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0D354AB-4F53-0F26-FF8A-B954759C1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69DBC-C008-494A-BF55-A5128DC573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08492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990D9F-0D2C-056F-08B4-D1CD3EBE36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AD54A12-792B-E9E9-88AD-2D293156D0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853187E-21CA-4798-5D52-3D74C59076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025B36F-1DA3-8F0A-BCB4-28516C0A3F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420AF-129A-49E3-8BB9-6EB6F78C940C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0EBE254-8A20-4EB4-99D2-E2784D1F1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5722A48-C229-7899-8149-AE9C2D918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69DBC-C008-494A-BF55-A5128DC573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75084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10ABAB-934B-88C3-004F-F6B7230A0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6A59D6E-B8C4-8BFC-CADE-B4EC24BACE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3C1A476-1DA8-2E92-8749-989BA1CFF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420AF-129A-49E3-8BB9-6EB6F78C940C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08004F8-2F80-A55A-A611-9F8BF4251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DA1766D-EF88-869E-23AC-03F0128BA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69DBC-C008-494A-BF55-A5128DC573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96175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6B7D7CB-4612-7726-C4F9-667FED42A5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4AE4E9E-6264-10E8-60F1-3DA5BCEEA0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82C032E-9D63-A390-03A6-FBD1F7857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420AF-129A-49E3-8BB9-6EB6F78C940C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FAA36C7-1A82-4E33-0177-A25FCDEED8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319993F-8FF4-BF24-F4C4-9EC53CE74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69DBC-C008-494A-BF55-A5128DC573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97406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29B9F79-B2DB-6CC3-5EE5-4D6945372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8B43FEF-968A-F886-9FDE-5EBDA18067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CFD63D5-90DF-27CD-31E9-C313E5AEA2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C420AF-129A-49E3-8BB9-6EB6F78C940C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2F91974-5957-99FA-D406-44E87A75B2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2025FC6-0E8E-4625-D801-AAE5C43B70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869DBC-C008-494A-BF55-A5128DC573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15946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>
            <a:extLst>
              <a:ext uri="{FF2B5EF4-FFF2-40B4-BE49-F238E27FC236}">
                <a16:creationId xmlns:a16="http://schemas.microsoft.com/office/drawing/2014/main" id="{75A2A66F-F94F-8F30-3FD3-7C0563FC723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1027" name="Picture 3">
            <a:extLst>
              <a:ext uri="{FF2B5EF4-FFF2-40B4-BE49-F238E27FC236}">
                <a16:creationId xmlns:a16="http://schemas.microsoft.com/office/drawing/2014/main" id="{FA5A9811-2B8C-CC5A-4E5C-98473C22CA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084" y="515178"/>
            <a:ext cx="7789509" cy="20126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17CC7026-A269-BBD1-4EB2-12BEB866AA8F}"/>
              </a:ext>
            </a:extLst>
          </p:cNvPr>
          <p:cNvSpPr txBox="1"/>
          <p:nvPr/>
        </p:nvSpPr>
        <p:spPr>
          <a:xfrm>
            <a:off x="10136767" y="5766462"/>
            <a:ext cx="15573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altLang="zh-CN" dirty="0"/>
              <a:t>2025/09/30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9C2E4A-6070-D368-82CD-7295478B3666}"/>
              </a:ext>
            </a:extLst>
          </p:cNvPr>
          <p:cNvSpPr txBox="1"/>
          <p:nvPr/>
        </p:nvSpPr>
        <p:spPr>
          <a:xfrm>
            <a:off x="7629415" y="3149600"/>
            <a:ext cx="37447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altLang="zh-CN" i="1" dirty="0" err="1"/>
              <a:t>LANChat</a:t>
            </a:r>
            <a:r>
              <a:rPr lang="zh-CN" altLang="en-US" i="1" dirty="0"/>
              <a:t>：安全与智能，无需妥协。</a:t>
            </a:r>
            <a:endParaRPr lang="zh-CN" altLang="en-US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7333213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8B0C22-4ED7-CC3E-4A96-4B78B7A59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目录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841EE0C-18D1-29DC-37FB-DEB412CA6A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b="1" dirty="0">
                <a:effectLst/>
              </a:rPr>
              <a:t>产品概述 </a:t>
            </a:r>
            <a:endParaRPr lang="en-US" altLang="zh-CN" b="1" dirty="0">
              <a:effectLst/>
            </a:endParaRPr>
          </a:p>
          <a:p>
            <a:pPr marL="0" indent="0">
              <a:buNone/>
            </a:pPr>
            <a:r>
              <a:rPr lang="zh-CN" altLang="en-US" b="1" dirty="0"/>
              <a:t>应用场景</a:t>
            </a:r>
            <a:endParaRPr lang="en-US" altLang="zh-CN" b="1" dirty="0"/>
          </a:p>
          <a:p>
            <a:pPr marL="0" indent="0">
              <a:buNone/>
            </a:pPr>
            <a:r>
              <a:rPr lang="zh-CN" altLang="en-US" b="1" dirty="0"/>
              <a:t>功能介绍</a:t>
            </a:r>
            <a:endParaRPr lang="en-US" altLang="zh-CN" b="1" dirty="0"/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900570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剪去对角 3">
            <a:extLst>
              <a:ext uri="{FF2B5EF4-FFF2-40B4-BE49-F238E27FC236}">
                <a16:creationId xmlns:a16="http://schemas.microsoft.com/office/drawing/2014/main" id="{9040A22A-7A7A-06B5-2E94-437A84296512}"/>
              </a:ext>
            </a:extLst>
          </p:cNvPr>
          <p:cNvSpPr/>
          <p:nvPr/>
        </p:nvSpPr>
        <p:spPr>
          <a:xfrm>
            <a:off x="768626" y="477077"/>
            <a:ext cx="3530047" cy="1043609"/>
          </a:xfrm>
          <a:prstGeom prst="snip2Diag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7D775EF-2C09-05AF-794C-D2E2ED877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1" dirty="0">
                <a:effectLst/>
              </a:rPr>
              <a:t>产品概述 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A00003D-0706-8C5B-CD3B-0D5D4293DA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 err="1">
                <a:effectLst/>
              </a:rPr>
              <a:t>LANChat</a:t>
            </a:r>
            <a:r>
              <a:rPr lang="zh-CN" altLang="en-US" dirty="0">
                <a:effectLst/>
              </a:rPr>
              <a:t>是一款专为高保密需求场景设计的本地化大语言模型部署平台，搭载</a:t>
            </a:r>
            <a:r>
              <a:rPr lang="en-US" altLang="zh-CN" dirty="0">
                <a:effectLst/>
              </a:rPr>
              <a:t>NVIDIA Jetson AGX Orin</a:t>
            </a:r>
            <a:r>
              <a:rPr lang="zh-CN" altLang="en-US" dirty="0">
                <a:effectLst/>
              </a:rPr>
              <a:t>（</a:t>
            </a:r>
            <a:r>
              <a:rPr lang="en-US" altLang="zh-CN" dirty="0">
                <a:effectLst/>
              </a:rPr>
              <a:t>64GB</a:t>
            </a:r>
            <a:r>
              <a:rPr lang="zh-CN" altLang="en-US" dirty="0">
                <a:effectLst/>
              </a:rPr>
              <a:t>）边缘计算设备，支持</a:t>
            </a:r>
            <a:r>
              <a:rPr lang="en-US" altLang="zh-CN" dirty="0">
                <a:effectLst/>
              </a:rPr>
              <a:t>4-7</a:t>
            </a:r>
            <a:r>
              <a:rPr lang="zh-CN" altLang="en-US" dirty="0">
                <a:effectLst/>
              </a:rPr>
              <a:t>人同时低延迟交互。通过完全离线的模型部署，</a:t>
            </a:r>
            <a:r>
              <a:rPr lang="en-US" altLang="zh-CN" dirty="0" err="1">
                <a:effectLst/>
              </a:rPr>
              <a:t>LANChat</a:t>
            </a:r>
            <a:r>
              <a:rPr lang="zh-CN" altLang="en-US" dirty="0">
                <a:effectLst/>
              </a:rPr>
              <a:t>确保敏感数据无需上传至云端，彻底杜绝外部泄露风险，确保金融交易、科研机密、企业战略等敏感对话数据无需上传至云端，从根本上杜绝外部泄露风险，为您提供安全与效率兼备的</a:t>
            </a:r>
            <a:r>
              <a:rPr lang="en-US" altLang="zh-CN" dirty="0">
                <a:effectLst/>
              </a:rPr>
              <a:t>AI</a:t>
            </a:r>
            <a:r>
              <a:rPr lang="zh-CN" altLang="en-US" dirty="0">
                <a:effectLst/>
              </a:rPr>
              <a:t>对话能力。</a:t>
            </a:r>
          </a:p>
          <a:p>
            <a:pPr marL="0" indent="0">
              <a:buNone/>
            </a:pPr>
            <a:endParaRPr lang="en-US" altLang="zh-CN" i="1" dirty="0"/>
          </a:p>
          <a:p>
            <a:pPr marL="0" indent="0">
              <a:buNone/>
            </a:pPr>
            <a:endParaRPr lang="en-US" altLang="zh-CN" i="1" dirty="0"/>
          </a:p>
        </p:txBody>
      </p:sp>
    </p:spTree>
    <p:extLst>
      <p:ext uri="{BB962C8B-B14F-4D97-AF65-F5344CB8AC3E}">
        <p14:creationId xmlns:p14="http://schemas.microsoft.com/office/powerpoint/2010/main" val="31737038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6115D5-3E22-D4B9-9910-EDEE1A5AF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剪去对角 3">
            <a:extLst>
              <a:ext uri="{FF2B5EF4-FFF2-40B4-BE49-F238E27FC236}">
                <a16:creationId xmlns:a16="http://schemas.microsoft.com/office/drawing/2014/main" id="{518D0CD7-B5BD-682B-052F-AA5BD708C027}"/>
              </a:ext>
            </a:extLst>
          </p:cNvPr>
          <p:cNvSpPr/>
          <p:nvPr/>
        </p:nvSpPr>
        <p:spPr>
          <a:xfrm>
            <a:off x="768626" y="477077"/>
            <a:ext cx="3530047" cy="1043609"/>
          </a:xfrm>
          <a:prstGeom prst="snip2Diag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0165F3D3-0F3E-0AD7-F6E3-2458EBE40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/>
            <a:r>
              <a:rPr lang="zh-CN" altLang="en-US" dirty="0"/>
              <a:t>应用场景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D313CC6-4B4B-E560-B399-639366167E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>
                <a:effectLst/>
              </a:rPr>
              <a:t>量化交易公司：</a:t>
            </a:r>
            <a:r>
              <a:rPr lang="zh-CN" altLang="en-US" dirty="0">
                <a:effectLst/>
              </a:rPr>
              <a:t>用于本地解析实时市场数据、进行私密的回测策略讨论，绝对保障交易逻辑不外泄。</a:t>
            </a:r>
          </a:p>
          <a:p>
            <a:r>
              <a:rPr lang="zh-CN" altLang="en-US" b="1" dirty="0">
                <a:effectLst/>
              </a:rPr>
              <a:t>法律事务所：</a:t>
            </a:r>
            <a:r>
              <a:rPr lang="zh-CN" altLang="en-US" dirty="0">
                <a:effectLst/>
              </a:rPr>
              <a:t>用于分析客户案件、生成和审阅合同条款，确保所有隐私案卷资料百分百安全。</a:t>
            </a:r>
          </a:p>
          <a:p>
            <a:r>
              <a:rPr lang="zh-CN" altLang="en-US" b="1" dirty="0">
                <a:effectLst/>
              </a:rPr>
              <a:t>研发型企业：</a:t>
            </a:r>
            <a:r>
              <a:rPr lang="zh-CN" altLang="en-US" dirty="0">
                <a:effectLst/>
              </a:rPr>
              <a:t>用于内部技术方案研讨、专利文档撰写，保护核心创意与知识产权不暴露于公网。</a:t>
            </a:r>
          </a:p>
          <a:p>
            <a:r>
              <a:rPr lang="zh-CN" altLang="en-US" b="1" dirty="0">
                <a:effectLst/>
              </a:rPr>
              <a:t>家庭自用：</a:t>
            </a:r>
            <a:r>
              <a:rPr lang="zh-CN" altLang="en-US" dirty="0">
                <a:effectLst/>
              </a:rPr>
              <a:t> 基于人物肖像系统，给出用户更加智能，更加个性作出反馈。</a:t>
            </a:r>
          </a:p>
        </p:txBody>
      </p:sp>
    </p:spTree>
    <p:extLst>
      <p:ext uri="{BB962C8B-B14F-4D97-AF65-F5344CB8AC3E}">
        <p14:creationId xmlns:p14="http://schemas.microsoft.com/office/powerpoint/2010/main" val="21020192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BDA5CB-2AD8-7C5E-A8E6-058043B72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剪去对角 3">
            <a:extLst>
              <a:ext uri="{FF2B5EF4-FFF2-40B4-BE49-F238E27FC236}">
                <a16:creationId xmlns:a16="http://schemas.microsoft.com/office/drawing/2014/main" id="{EE818BDD-A8BF-3693-23F5-935E14A1C273}"/>
              </a:ext>
            </a:extLst>
          </p:cNvPr>
          <p:cNvSpPr/>
          <p:nvPr/>
        </p:nvSpPr>
        <p:spPr>
          <a:xfrm>
            <a:off x="768626" y="477077"/>
            <a:ext cx="3530047" cy="1043609"/>
          </a:xfrm>
          <a:prstGeom prst="snip2Diag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3EB15A0F-2E8D-DC8E-A0CF-0A276EEEB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/>
            <a:r>
              <a:rPr lang="zh-CN" altLang="en-US" dirty="0"/>
              <a:t>功能介绍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A5D47B9-07AA-AA6A-6972-2CC9AAA3CD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rag</a:t>
            </a:r>
            <a:r>
              <a:rPr lang="zh-CN" altLang="en-US" dirty="0"/>
              <a:t>模块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- </a:t>
            </a:r>
            <a:r>
              <a:rPr lang="zh-CN" altLang="en-US" dirty="0"/>
              <a:t>多模态</a:t>
            </a:r>
            <a:r>
              <a:rPr lang="en-US" altLang="zh-CN" dirty="0"/>
              <a:t>rag</a:t>
            </a:r>
          </a:p>
          <a:p>
            <a:pPr marL="0" indent="0">
              <a:buNone/>
            </a:pPr>
            <a:r>
              <a:rPr lang="en-US" altLang="zh-CN" dirty="0"/>
              <a:t>- </a:t>
            </a:r>
            <a:r>
              <a:rPr lang="zh-CN" altLang="en-US" dirty="0"/>
              <a:t>纯文本</a:t>
            </a:r>
            <a:r>
              <a:rPr lang="en-US" altLang="zh-CN" dirty="0"/>
              <a:t>rag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5F09A11-3AE3-5D9C-4985-F06348BA3E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4894" y="1095139"/>
            <a:ext cx="8001058" cy="4043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92447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85CF4E-541D-D25C-2224-7689DB9FE6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剪去对角 3">
            <a:extLst>
              <a:ext uri="{FF2B5EF4-FFF2-40B4-BE49-F238E27FC236}">
                <a16:creationId xmlns:a16="http://schemas.microsoft.com/office/drawing/2014/main" id="{80EC75E0-EF7F-A91B-2B07-6B0CA8365D42}"/>
              </a:ext>
            </a:extLst>
          </p:cNvPr>
          <p:cNvSpPr/>
          <p:nvPr/>
        </p:nvSpPr>
        <p:spPr>
          <a:xfrm>
            <a:off x="768626" y="477077"/>
            <a:ext cx="3530047" cy="1043609"/>
          </a:xfrm>
          <a:prstGeom prst="snip2Diag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051F751A-9D82-E1AB-76D0-484AAC8EE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/>
            <a:r>
              <a:rPr lang="zh-CN" altLang="en-US" dirty="0"/>
              <a:t>功能介绍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99FB882-FA3F-F861-793B-1229D20227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记忆模块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-</a:t>
            </a:r>
            <a:r>
              <a:rPr lang="zh-CN" altLang="en-US" dirty="0"/>
              <a:t>采用纯文本</a:t>
            </a:r>
            <a:r>
              <a:rPr lang="en-US" altLang="zh-CN" dirty="0"/>
              <a:t>rag</a:t>
            </a:r>
            <a:r>
              <a:rPr lang="zh-CN" altLang="en-US" dirty="0"/>
              <a:t>开发 </a:t>
            </a:r>
            <a:r>
              <a:rPr lang="en-US" altLang="zh-CN" dirty="0"/>
              <a:t>chroma  </a:t>
            </a:r>
          </a:p>
          <a:p>
            <a:pPr>
              <a:buFontTx/>
              <a:buChar char="-"/>
            </a:pPr>
            <a:r>
              <a:rPr lang="zh-CN" altLang="en-US" dirty="0"/>
              <a:t>支持超长记忆检索</a:t>
            </a:r>
            <a:endParaRPr lang="en-US" altLang="zh-CN" dirty="0"/>
          </a:p>
          <a:p>
            <a:pPr>
              <a:buFontTx/>
              <a:buChar char="-"/>
            </a:pPr>
            <a:r>
              <a:rPr lang="zh-CN" altLang="en-US" dirty="0"/>
              <a:t>支持重启问候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7E27993-6EE3-0841-2ED3-D31FA0C383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9701" y="4174433"/>
            <a:ext cx="6259190" cy="1451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4211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990FA-5543-B440-2CCB-208D43AF2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: 剪去对角 9">
            <a:extLst>
              <a:ext uri="{FF2B5EF4-FFF2-40B4-BE49-F238E27FC236}">
                <a16:creationId xmlns:a16="http://schemas.microsoft.com/office/drawing/2014/main" id="{3769D52D-AAA7-1B91-004B-DFBB9D7626F9}"/>
              </a:ext>
            </a:extLst>
          </p:cNvPr>
          <p:cNvSpPr/>
          <p:nvPr/>
        </p:nvSpPr>
        <p:spPr>
          <a:xfrm>
            <a:off x="768626" y="477077"/>
            <a:ext cx="3530047" cy="1043609"/>
          </a:xfrm>
          <a:prstGeom prst="snip2Diag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034B60F9-6287-8505-63EB-6BC98BE6EC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/>
            <a:r>
              <a:rPr lang="zh-CN" altLang="en-US" dirty="0"/>
              <a:t>功能介绍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AEE1C1D-CC43-D520-14CF-4B4A7ED9DF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b="1" dirty="0"/>
              <a:t>人物肖像模块</a:t>
            </a:r>
            <a:endParaRPr lang="en-US" altLang="zh-CN" b="1" dirty="0"/>
          </a:p>
          <a:p>
            <a:pPr>
              <a:buFontTx/>
              <a:buChar char="-"/>
            </a:pPr>
            <a:r>
              <a:rPr lang="zh-CN" altLang="en-US" dirty="0"/>
              <a:t>主要针对个人使用，</a:t>
            </a:r>
            <a:endParaRPr lang="en-US" altLang="zh-CN" dirty="0"/>
          </a:p>
          <a:p>
            <a:pPr>
              <a:buFontTx/>
              <a:buChar char="-"/>
            </a:pPr>
            <a:r>
              <a:rPr lang="zh-CN" altLang="en-US" dirty="0"/>
              <a:t>带入聊天内容，有针对，人性化的回答用户提问。</a:t>
            </a:r>
            <a:r>
              <a:rPr lang="en-US" altLang="zh-CN" dirty="0"/>
              <a:t>Noe4j  </a:t>
            </a:r>
            <a:r>
              <a:rPr lang="en-US" altLang="zh-CN" dirty="0" err="1"/>
              <a:t>worknetx</a:t>
            </a:r>
            <a:endParaRPr lang="en-US" altLang="zh-CN" dirty="0"/>
          </a:p>
          <a:p>
            <a:pPr>
              <a:buFontTx/>
              <a:buChar char="-"/>
            </a:pPr>
            <a:r>
              <a:rPr lang="zh-CN" altLang="en-US" dirty="0">
                <a:highlight>
                  <a:srgbClr val="FFFF00"/>
                </a:highlight>
              </a:rPr>
              <a:t>可以通过聊天出发更新</a:t>
            </a:r>
            <a:r>
              <a:rPr lang="zh-CN" altLang="en-US" dirty="0"/>
              <a:t>。</a:t>
            </a: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A74D51E2-0597-13C5-745B-9212927458F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b="1"/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B79C2932-8ED5-D85F-D7DA-9DB5F057B4E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639378" cy="3639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7AE34FA-460C-805D-4E14-E05B3AC8F5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7708" y="3449161"/>
            <a:ext cx="6598170" cy="2880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5027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83CDA9-D7BE-CE64-8B25-AB6D4D8E96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: 剪去对角 9">
            <a:extLst>
              <a:ext uri="{FF2B5EF4-FFF2-40B4-BE49-F238E27FC236}">
                <a16:creationId xmlns:a16="http://schemas.microsoft.com/office/drawing/2014/main" id="{AF3D1612-A886-BEF5-3356-A3FAF73F15AD}"/>
              </a:ext>
            </a:extLst>
          </p:cNvPr>
          <p:cNvSpPr/>
          <p:nvPr/>
        </p:nvSpPr>
        <p:spPr>
          <a:xfrm>
            <a:off x="768626" y="477077"/>
            <a:ext cx="3530047" cy="1043609"/>
          </a:xfrm>
          <a:prstGeom prst="snip2Diag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AC680F97-2306-5D25-3DE9-8F5BC98AA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/>
            <a:r>
              <a:rPr lang="zh-CN" altLang="en-US" dirty="0"/>
              <a:t>功能介绍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6B8A682-F913-3E80-18BA-1B9137CDF4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b="1" dirty="0"/>
              <a:t>信息缓存模块</a:t>
            </a:r>
            <a:endParaRPr lang="en-US" altLang="zh-CN" b="1" dirty="0"/>
          </a:p>
          <a:p>
            <a:pPr>
              <a:buFontTx/>
              <a:buChar char="-"/>
            </a:pPr>
            <a:r>
              <a:rPr lang="zh-CN" altLang="en-US" dirty="0"/>
              <a:t>避免频繁访问</a:t>
            </a:r>
            <a:r>
              <a:rPr lang="en-US" altLang="zh-CN" dirty="0"/>
              <a:t>rag</a:t>
            </a:r>
            <a:r>
              <a:rPr lang="zh-CN" altLang="en-US" dirty="0"/>
              <a:t>系统。</a:t>
            </a:r>
            <a:endParaRPr lang="en-US" altLang="zh-CN" dirty="0"/>
          </a:p>
          <a:p>
            <a:pPr>
              <a:buFontTx/>
              <a:buChar char="-"/>
            </a:pPr>
            <a:r>
              <a:rPr lang="zh-CN" altLang="en-US" dirty="0"/>
              <a:t>对相近提问做出更深入的思考。</a:t>
            </a:r>
            <a:endParaRPr lang="en-US" altLang="zh-CN" dirty="0"/>
          </a:p>
          <a:p>
            <a:pPr>
              <a:buFontTx/>
              <a:buChar char="-"/>
            </a:pPr>
            <a:r>
              <a:rPr lang="zh-CN" altLang="en-US" dirty="0"/>
              <a:t>降低</a:t>
            </a:r>
            <a:r>
              <a:rPr lang="en-US" altLang="zh-CN" dirty="0"/>
              <a:t>token</a:t>
            </a:r>
            <a:r>
              <a:rPr lang="zh-CN" altLang="en-US" dirty="0"/>
              <a:t>消耗。</a:t>
            </a: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CD98479A-3EFC-B80D-A21D-FC30A39C965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b="1"/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FB7DA4F5-FE48-B292-2DAA-1B0884F7780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639378" cy="3639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24251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8F3BA0-9194-7230-D9FD-0C58C52F06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: 剪去对角 9">
            <a:extLst>
              <a:ext uri="{FF2B5EF4-FFF2-40B4-BE49-F238E27FC236}">
                <a16:creationId xmlns:a16="http://schemas.microsoft.com/office/drawing/2014/main" id="{F997918B-6D71-D30C-0CAF-787EC68DA477}"/>
              </a:ext>
            </a:extLst>
          </p:cNvPr>
          <p:cNvSpPr/>
          <p:nvPr/>
        </p:nvSpPr>
        <p:spPr>
          <a:xfrm>
            <a:off x="768626" y="477077"/>
            <a:ext cx="3530047" cy="1043609"/>
          </a:xfrm>
          <a:prstGeom prst="snip2Diag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5A6B8526-D2D5-A4BD-BC02-0A40D9098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/>
            <a:r>
              <a:rPr lang="zh-CN" altLang="en-US" dirty="0"/>
              <a:t>功能介绍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9A51602-AA07-1B17-A00F-4173F3E925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b="1" dirty="0"/>
              <a:t>其他模块</a:t>
            </a:r>
            <a:endParaRPr lang="en-US" altLang="zh-CN" b="1" dirty="0"/>
          </a:p>
          <a:p>
            <a:pPr>
              <a:buFontTx/>
              <a:buChar char="-"/>
            </a:pPr>
            <a:r>
              <a:rPr lang="en-US" altLang="zh-CN" dirty="0"/>
              <a:t>Kafka</a:t>
            </a:r>
            <a:r>
              <a:rPr lang="zh-CN" altLang="en-US" dirty="0"/>
              <a:t>信息队列模块，</a:t>
            </a:r>
            <a:endParaRPr lang="en-US" altLang="zh-CN" dirty="0"/>
          </a:p>
          <a:p>
            <a:pPr>
              <a:buFontTx/>
              <a:buChar char="-"/>
            </a:pPr>
            <a:r>
              <a:rPr lang="en-US" altLang="zh-CN" dirty="0" err="1"/>
              <a:t>Mcp</a:t>
            </a:r>
            <a:r>
              <a:rPr lang="zh-CN" altLang="en-US" dirty="0"/>
              <a:t>模块。</a:t>
            </a:r>
            <a:endParaRPr lang="en-US" altLang="zh-CN" dirty="0"/>
          </a:p>
          <a:p>
            <a:pPr>
              <a:buFontTx/>
              <a:buChar char="-"/>
            </a:pPr>
            <a:r>
              <a:rPr lang="en-US" altLang="zh-CN" dirty="0"/>
              <a:t>Redis</a:t>
            </a:r>
            <a:r>
              <a:rPr lang="zh-CN" altLang="en-US"/>
              <a:t>信息缓存模块</a:t>
            </a:r>
            <a:endParaRPr lang="en-US" altLang="zh-CN" dirty="0"/>
          </a:p>
          <a:p>
            <a:pPr>
              <a:buFontTx/>
              <a:buChar char="-"/>
            </a:pPr>
            <a:r>
              <a:rPr lang="en-US" altLang="zh-CN" dirty="0"/>
              <a:t>…</a:t>
            </a: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3E62E9D4-FDA2-355B-5007-0E6E5CE1CAD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b="1"/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48C0F876-C6D9-48EA-9B55-F6558A7F58F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639378" cy="3639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13964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316</Words>
  <Application>Microsoft Office PowerPoint</Application>
  <PresentationFormat>宽屏</PresentationFormat>
  <Paragraphs>38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3" baseType="lpstr">
      <vt:lpstr>等线</vt:lpstr>
      <vt:lpstr>等线 Light</vt:lpstr>
      <vt:lpstr>Arial</vt:lpstr>
      <vt:lpstr>Office 主题​​</vt:lpstr>
      <vt:lpstr>PowerPoint 演示文稿</vt:lpstr>
      <vt:lpstr>目录</vt:lpstr>
      <vt:lpstr>产品概述 </vt:lpstr>
      <vt:lpstr>应用场景</vt:lpstr>
      <vt:lpstr>功能介绍</vt:lpstr>
      <vt:lpstr>功能介绍</vt:lpstr>
      <vt:lpstr>功能介绍</vt:lpstr>
      <vt:lpstr>功能介绍</vt:lpstr>
      <vt:lpstr>功能介绍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隆 郑</dc:creator>
  <cp:lastModifiedBy>隆 郑</cp:lastModifiedBy>
  <cp:revision>2</cp:revision>
  <dcterms:created xsi:type="dcterms:W3CDTF">2025-11-13T10:49:32Z</dcterms:created>
  <dcterms:modified xsi:type="dcterms:W3CDTF">2025-11-13T12:36:38Z</dcterms:modified>
</cp:coreProperties>
</file>